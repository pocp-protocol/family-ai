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用户提供图片：04_商业模式内核图.png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用户提供图片：01_小程序UI方案.png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用户提供图片：06_增长优化场景.png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用户提供图片：02_分享裂变商城.png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用户提供图片：03_名师咨询线下沙龙.png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用户提供图片：05_用户社区打卡分享.png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用户提供图片：07_我的客户后台.png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基于用户提供的业务讨论整理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9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781050" y="1104900"/>
            <a:ext cx="857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榜样教育新商业模式</a:t>
            </a:r>
            <a:endParaRPr sz="4050" b="1">
              <a:solidFill>
                <a:srgbClr val="FFFF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00100" y="1943100"/>
            <a:ext cx="962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0">
                <a:solidFill>
                  <a:srgbClr val="CFE1FF"/>
                </a:solidFill>
              </a:defRPr>
            </a:pPr>
            <a:r>
              <a:rPr sz="2100" b="0">
                <a:solidFill>
                  <a:srgbClr val="CFE1FF"/>
                </a:solidFill>
              </a:rPr>
              <a:t>从“重投流卖课程”升级为“经营家庭成长的平台”</a:t>
            </a:r>
            <a:endParaRPr sz="2100" b="0">
              <a:solidFill>
                <a:srgbClr val="CFE1FF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800100" y="2857500"/>
            <a:ext cx="10572750" cy="1619250"/>
          </a:xfrm>
          <a:prstGeom prst="roundRect">
            <a:avLst>
              <a:gd name="adj" fmla="val 4706"/>
            </a:avLst>
          </a:prstGeom>
          <a:solidFill>
            <a:srgbClr val="0E397A"/>
          </a:solidFill>
          <a:ln w="9525">
            <a:solidFill>
              <a:srgbClr val="2B68B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3950" y="3143250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孩子问题是入口  ×  父母二次成长是价值  ×  家庭改变是结果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378142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FFD77A"/>
                </a:solidFill>
              </a:defRPr>
            </a:pPr>
            <a:r>
              <a:rPr sz="1725" b="1">
                <a:solidFill>
                  <a:srgbClr val="FFD77A"/>
                </a:solidFill>
              </a:rPr>
              <a:t>增长机制 + 智能分发 + 服务体验 + 长期陪伴</a:t>
            </a:r>
            <a:endParaRPr sz="1725" b="1">
              <a:solidFill>
                <a:srgbClr val="FFD77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753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AFC8EC"/>
                </a:solidFill>
              </a:defRPr>
            </a:pPr>
            <a:r>
              <a:rPr sz="1275" b="0">
                <a:solidFill>
                  <a:srgbClr val="AFC8EC"/>
                </a:solidFill>
              </a:rPr>
              <a:t>对外战略介绍文件</a:t>
            </a:r>
            <a:endParaRPr sz="1275" b="0">
              <a:solidFill>
                <a:srgbClr val="AFC8E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矩形 50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核心战略结论：不是再造一套课程，而是重构用户关系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581150"/>
            <a:ext cx="1809750" cy="6858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647825"/>
            <a:ext cx="1657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战略问题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419350" y="1581150"/>
            <a:ext cx="2476500" cy="6858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495550" y="1647825"/>
            <a:ext cx="2324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过去的答案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895850" y="1581150"/>
            <a:ext cx="2952750" cy="6858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972050" y="1647825"/>
            <a:ext cx="2800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新的答案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848600" y="1581150"/>
            <a:ext cx="3733800" cy="6858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924800" y="1647825"/>
            <a:ext cx="3581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带来的变化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2266950"/>
            <a:ext cx="18097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23241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经营对象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419350" y="2266950"/>
            <a:ext cx="2476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514600" y="23241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一次成交的课程客户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895850" y="2266950"/>
            <a:ext cx="29527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991100" y="23241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持续成长的家庭用户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848600" y="2266950"/>
            <a:ext cx="37338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43850" y="2324100"/>
            <a:ext cx="3543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从交易关系变为长期关系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" y="2952750"/>
            <a:ext cx="180975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4850" y="30099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增长来源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419350" y="2952750"/>
            <a:ext cx="24765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514600" y="30099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购买平台流量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895850" y="2952750"/>
            <a:ext cx="295275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991100" y="30099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内容、用户分享、城市网络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848600" y="2952750"/>
            <a:ext cx="37338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943850" y="3009900"/>
            <a:ext cx="3543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降低对单一投流的依赖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09600" y="3638550"/>
            <a:ext cx="18097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4850" y="36957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交付方式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419350" y="3638550"/>
            <a:ext cx="2476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514600" y="36957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课程与老师交付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895850" y="3638550"/>
            <a:ext cx="29527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991100" y="36957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AI＋顾问＋社群＋活动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848600" y="3638550"/>
            <a:ext cx="37338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943850" y="3695700"/>
            <a:ext cx="3543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形成可持续陪伴体系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09600" y="4324350"/>
            <a:ext cx="180975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43815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核心资产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419350" y="4324350"/>
            <a:ext cx="24765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514600" y="43815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课程、讲师、销售团队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4895850" y="4324350"/>
            <a:ext cx="295275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991100" y="43815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用户、数据、案例、社区、生态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7848600" y="4324350"/>
            <a:ext cx="37338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943850" y="4381500"/>
            <a:ext cx="3543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企业价值从利润扩展到用户资产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09600" y="5010150"/>
            <a:ext cx="18097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4850" y="5067300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最终定位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2419350" y="5010150"/>
            <a:ext cx="2476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514600" y="50673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家庭教育培训公司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4895850" y="5010150"/>
            <a:ext cx="29527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991100" y="50673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中国父母成长生态平台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848600" y="5010150"/>
            <a:ext cx="37338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943850" y="5067300"/>
            <a:ext cx="3543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具备网络增长与生态化空间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897" y="0"/>
            <a:ext cx="969220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四种成熟能力，组合成一套家庭成长平台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676400"/>
            <a:ext cx="1714500" cy="78105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43075"/>
            <a:ext cx="1562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借鉴对象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324100" y="1676400"/>
            <a:ext cx="2571750" cy="78105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400300" y="1743075"/>
            <a:ext cx="2419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商业模式内核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895850" y="1676400"/>
            <a:ext cx="4000500" cy="78105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972050" y="1743075"/>
            <a:ext cx="3848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榜样教育的对应设计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896350" y="1676400"/>
            <a:ext cx="2686050" cy="78105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72550" y="1743075"/>
            <a:ext cx="2533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关键结果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2457450"/>
            <a:ext cx="1714500" cy="7810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25146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拼多多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324100" y="2457450"/>
            <a:ext cx="2571750" cy="7810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419350" y="251460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把用户变成传播节点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895850" y="2457450"/>
            <a:ext cx="4000500" cy="7810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991100" y="2514600"/>
            <a:ext cx="381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测评分享、成长拼团、案例裂变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896350" y="2457450"/>
            <a:ext cx="2686050" cy="7810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91600" y="2514600"/>
            <a:ext cx="2495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用户带来用户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" y="3238500"/>
            <a:ext cx="1714500" cy="78105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4850" y="32956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字节跳动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324100" y="3238500"/>
            <a:ext cx="2571750" cy="78105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419350" y="32956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数据理解用户并精准分发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895850" y="3238500"/>
            <a:ext cx="4000500" cy="78105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991100" y="3295650"/>
            <a:ext cx="381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家庭画像、AI诊断、内容与服务推荐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896350" y="3238500"/>
            <a:ext cx="2686050" cy="78105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991600" y="3295650"/>
            <a:ext cx="2495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越使用越懂家庭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09600" y="4019550"/>
            <a:ext cx="1714500" cy="7810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4850" y="407670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海底捞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324100" y="4019550"/>
            <a:ext cx="2571750" cy="7810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419350" y="407670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用极致体验建立信任与复购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895850" y="4019550"/>
            <a:ext cx="4000500" cy="7810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991100" y="4076700"/>
            <a:ext cx="381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顾问、班主任、专家、线下沙龙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896350" y="4019550"/>
            <a:ext cx="2686050" cy="7810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991600" y="4076700"/>
            <a:ext cx="2495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家长感到被重视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09600" y="4800600"/>
            <a:ext cx="1714500" cy="78105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4857750"/>
            <a:ext cx="152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教育行业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324100" y="4800600"/>
            <a:ext cx="2571750" cy="78105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419350" y="48577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结果产生在购买之后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4895850" y="4800600"/>
            <a:ext cx="4000500" cy="78105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991100" y="4857750"/>
            <a:ext cx="381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21天行动、90天陪跑、年度会员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8896350" y="4800600"/>
            <a:ext cx="2686050" cy="78105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991600" y="4857750"/>
            <a:ext cx="2495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长期陪伴创造结果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" name="矩形 72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用户路径：从孩子问题进入，在父母成长中完成价值交付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95425"/>
            <a:ext cx="123825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1085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847850" y="1495425"/>
            <a:ext cx="20955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924050" y="1562100"/>
            <a:ext cx="1943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家长当下心理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943350" y="1495425"/>
            <a:ext cx="238125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019550" y="1562100"/>
            <a:ext cx="2228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平台动作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324600" y="1495425"/>
            <a:ext cx="28575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00800" y="15621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核心产品/场景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182100" y="1495425"/>
            <a:ext cx="24003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258300" y="156210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平台指标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" y="2105025"/>
            <a:ext cx="12382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2162175"/>
            <a:ext cx="104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触发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847850" y="2105025"/>
            <a:ext cx="2095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943100" y="2162175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孩子出现现实问题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943350" y="2105025"/>
            <a:ext cx="23812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038600" y="21621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以问题场景吸引进入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324600" y="2105025"/>
            <a:ext cx="2857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19850" y="21621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内容、沙龙、家庭测评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182100" y="2105025"/>
            <a:ext cx="24003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277350" y="2162175"/>
            <a:ext cx="2209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访问与测评启动率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09600" y="2714625"/>
            <a:ext cx="12382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4850" y="2771775"/>
            <a:ext cx="104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觉醒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847850" y="2714625"/>
            <a:ext cx="2095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943100" y="2771775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想找到问题原因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3943350" y="2714625"/>
            <a:ext cx="23812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038600" y="27717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温和呈现家庭互动影响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324600" y="2714625"/>
            <a:ext cx="2857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419850" y="27717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AI诊断与父母成长报告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182100" y="2714625"/>
            <a:ext cx="24003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277350" y="2771775"/>
            <a:ext cx="2209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测评完成率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09600" y="3324225"/>
            <a:ext cx="12382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04850" y="3381375"/>
            <a:ext cx="104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行动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847850" y="3324225"/>
            <a:ext cx="2095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943100" y="3381375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愿意尝试改变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3943350" y="3324225"/>
            <a:ext cx="23812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038600" y="33813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把学习变成每日小行动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324600" y="3324225"/>
            <a:ext cx="2857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419850" y="33813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21天挑战、每日任务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9182100" y="3324225"/>
            <a:ext cx="24003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277350" y="3381375"/>
            <a:ext cx="2209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挑战参与与完成率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09600" y="3933825"/>
            <a:ext cx="12382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4850" y="3990975"/>
            <a:ext cx="104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改变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1847850" y="3933825"/>
            <a:ext cx="2095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943100" y="3990975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希望看到真实效果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3943350" y="3933825"/>
            <a:ext cx="23812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038600" y="39909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提供系统陪跑与反馈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324600" y="3933825"/>
            <a:ext cx="2857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419850" y="39909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90天计划、顾问、社群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9182100" y="3933825"/>
            <a:ext cx="24003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277350" y="3990975"/>
            <a:ext cx="2209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结果案例与满意度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609600" y="4543425"/>
            <a:ext cx="12382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4850" y="4600575"/>
            <a:ext cx="104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长期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1847850" y="4543425"/>
            <a:ext cx="2095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943100" y="4600575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需要持续支持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3943350" y="4543425"/>
            <a:ext cx="23812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4038600" y="46005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沉淀会员、档案和关系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6324600" y="4543425"/>
            <a:ext cx="2857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6419850" y="46005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年度会员、活动、AI管家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9182100" y="4543425"/>
            <a:ext cx="24003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277350" y="4600575"/>
            <a:ext cx="2209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续费率与活跃率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609600" y="5153025"/>
            <a:ext cx="12382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704850" y="5210175"/>
            <a:ext cx="1047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传播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1847850" y="5153025"/>
            <a:ext cx="2095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1943100" y="5210175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愿意展示成长成果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3943350" y="5153025"/>
            <a:ext cx="23812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4038600" y="5210175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生成可分享的身份与结果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324600" y="5153025"/>
            <a:ext cx="2857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6419850" y="52101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成长报告、社区、邀请权益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9182100" y="5153025"/>
            <a:ext cx="24003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9277350" y="5210175"/>
            <a:ext cx="2209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主动分享与邀请成功率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" name="矩形 58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裂变不是“帮我卖课”，而是“邀请同频家庭共同成长”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95425"/>
            <a:ext cx="142875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1276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机制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038350" y="1495425"/>
            <a:ext cx="257175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114550" y="1562100"/>
            <a:ext cx="2419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传统分销做法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610100" y="1495425"/>
            <a:ext cx="3476625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686300" y="1562100"/>
            <a:ext cx="33242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平台化做法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086725" y="1495425"/>
            <a:ext cx="3495675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62925" y="1562100"/>
            <a:ext cx="33432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推荐原则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2105025"/>
            <a:ext cx="14287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216217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分享动机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038350" y="2105025"/>
            <a:ext cx="25717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133600" y="2162175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现金佣金驱动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610100" y="2105025"/>
            <a:ext cx="347662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05350" y="2162175"/>
            <a:ext cx="3286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成长权益、同伴价值、身份荣誉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86725" y="2105025"/>
            <a:ext cx="349567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81975" y="2162175"/>
            <a:ext cx="3305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价值优先，奖励辅助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" y="2714625"/>
            <a:ext cx="14287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4850" y="277177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传播内容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038350" y="2714625"/>
            <a:ext cx="25717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133600" y="2771775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课程价格与成交话术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610100" y="2714625"/>
            <a:ext cx="347662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705350" y="2771775"/>
            <a:ext cx="3286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测评报告、成长案例、挑战邀请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086725" y="2714625"/>
            <a:ext cx="349567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181975" y="2771775"/>
            <a:ext cx="3305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传播结果，不传播焦虑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09600" y="3324225"/>
            <a:ext cx="14287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4850" y="338137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用户身份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038350" y="3324225"/>
            <a:ext cx="25717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133600" y="3381375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代理、分销员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610100" y="3324225"/>
            <a:ext cx="347662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705350" y="3381375"/>
            <a:ext cx="3286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成长伙伴、分享官、城市发起人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086725" y="3324225"/>
            <a:ext cx="349567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181975" y="3381375"/>
            <a:ext cx="3305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先学习，再获得传播资格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09600" y="3933825"/>
            <a:ext cx="14287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399097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奖励结构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038350" y="3933825"/>
            <a:ext cx="25717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133600" y="3990975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层级返佣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4610100" y="3933825"/>
            <a:ext cx="347662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4705350" y="3990975"/>
            <a:ext cx="3286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积分、会员权益、咨询、活动资格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8086725" y="3933825"/>
            <a:ext cx="349567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181975" y="3990975"/>
            <a:ext cx="3305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单层清晰、可追溯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09600" y="4543425"/>
            <a:ext cx="14287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4850" y="460057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成交场景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2038350" y="4543425"/>
            <a:ext cx="25717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133600" y="4600575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私聊强推和群发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4610100" y="4543425"/>
            <a:ext cx="347662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705350" y="4600575"/>
            <a:ext cx="3286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拼团专区、邀请有礼、积分商城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086725" y="4543425"/>
            <a:ext cx="349567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181975" y="4600575"/>
            <a:ext cx="3305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用户自愿、信息透明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09600" y="5153025"/>
            <a:ext cx="14287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04850" y="521017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经营目标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2038350" y="5153025"/>
            <a:ext cx="25717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133600" y="5210175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短期订单最大化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4610100" y="5153025"/>
            <a:ext cx="347662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4705350" y="5210175"/>
            <a:ext cx="3286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获客、留存、复购和口碑同时提升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8086725" y="5153025"/>
            <a:ext cx="349567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181975" y="5210175"/>
            <a:ext cx="3305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以LTV与推荐率衡量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" name="矩形 58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线上解决效率，线下建立信任，形成服务闭环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95425"/>
            <a:ext cx="17145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1562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服务场景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324100" y="1495425"/>
            <a:ext cx="30480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400300" y="1562100"/>
            <a:ext cx="2895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用户价值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372100" y="1495425"/>
            <a:ext cx="32385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448300" y="1562100"/>
            <a:ext cx="3086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平台价值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610600" y="1495425"/>
            <a:ext cx="29718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686800" y="1562100"/>
            <a:ext cx="2819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商业化方式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2105025"/>
            <a:ext cx="1714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21621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名师咨询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324100" y="2105025"/>
            <a:ext cx="3048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419350" y="2162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快速获得针对性判断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372100" y="2105025"/>
            <a:ext cx="3238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467350" y="21621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沉淀问题标签与信任关系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10600" y="2105025"/>
            <a:ext cx="29718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705850" y="2162175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咨询佣金/会员权益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" y="2714625"/>
            <a:ext cx="1714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4850" y="27717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预约沟通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324100" y="2714625"/>
            <a:ext cx="3048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419350" y="27717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降低选择和决策成本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372100" y="2714625"/>
            <a:ext cx="3238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467350" y="27717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提高专家服务效率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610600" y="2714625"/>
            <a:ext cx="29718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705850" y="2771775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预约服务费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09600" y="3324225"/>
            <a:ext cx="1714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4850" y="33813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线下沙龙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324100" y="3324225"/>
            <a:ext cx="3048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419350" y="33813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获得深度体验与同频连接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5372100" y="3324225"/>
            <a:ext cx="3238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467350" y="33813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区域获客与案例生产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610600" y="3324225"/>
            <a:ext cx="29718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705850" y="3381375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活动报名/会员转化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09600" y="3933825"/>
            <a:ext cx="1714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39909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城市活动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324100" y="3933825"/>
            <a:ext cx="3048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419350" y="39909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在本地持续获得陪伴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372100" y="3933825"/>
            <a:ext cx="3238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467350" y="39909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复制城市用户网络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8610600" y="3933825"/>
            <a:ext cx="29718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705850" y="3990975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城市合作/联合运营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09600" y="4543425"/>
            <a:ext cx="1714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4850" y="46005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家长社群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2324100" y="4543425"/>
            <a:ext cx="3048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419350" y="46005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长期互动、复盘和支持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5372100" y="4543425"/>
            <a:ext cx="3238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5467350" y="46005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提升活跃、留存与转介绍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610600" y="4543425"/>
            <a:ext cx="29718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705850" y="4600575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年度会员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09600" y="5153025"/>
            <a:ext cx="1714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04850" y="52101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服务档案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2324100" y="5153025"/>
            <a:ext cx="3048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419350" y="5210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随时看到历史与进展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5372100" y="5153025"/>
            <a:ext cx="3238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467350" y="52101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形成家庭生命周期数据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8610600" y="5153025"/>
            <a:ext cx="29718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705850" y="5210175"/>
            <a:ext cx="2781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高阶顾问服务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" name="矩形 58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社区不是“吐槽广场”，而是家庭成长结果的传播场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95425"/>
            <a:ext cx="17145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1562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社区模块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324100" y="1495425"/>
            <a:ext cx="28575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400300" y="15621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核心内容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181600" y="1495425"/>
            <a:ext cx="32385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257800" y="1562100"/>
            <a:ext cx="3086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用户心理价值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420100" y="1495425"/>
            <a:ext cx="31623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96300" y="15621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增长作用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2105025"/>
            <a:ext cx="1714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21621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成长打卡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324100" y="2105025"/>
            <a:ext cx="2857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419350" y="21621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今天改变了什么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181600" y="2105025"/>
            <a:ext cx="3238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276850" y="21621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获得行动反馈与坚持感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420100" y="2105025"/>
            <a:ext cx="31623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15350" y="2162175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提高日活与完课率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" y="2714625"/>
            <a:ext cx="1714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4850" y="27717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成果展示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324100" y="2714625"/>
            <a:ext cx="2857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419350" y="27717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家庭前后变化与成长报告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181600" y="2714625"/>
            <a:ext cx="3238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276850" y="27717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获得认可与荣誉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420100" y="2714625"/>
            <a:ext cx="31623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15350" y="2771775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形成可信案例传播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09600" y="3324225"/>
            <a:ext cx="1714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4850" y="33813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求助讨论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324100" y="3324225"/>
            <a:ext cx="2857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419350" y="33813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具体家庭场景与经验互助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5181600" y="3324225"/>
            <a:ext cx="3238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276850" y="33813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降低育儿孤独感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420100" y="3324225"/>
            <a:ext cx="31623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515350" y="3381375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提高互动与停留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09600" y="3933825"/>
            <a:ext cx="1714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39909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导师点评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324100" y="3933825"/>
            <a:ext cx="2857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419350" y="39909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专业回应与方案建议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181600" y="3933825"/>
            <a:ext cx="3238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276850" y="39909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建立安全感和专业信任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8420100" y="3933825"/>
            <a:ext cx="31623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515350" y="3990975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带动咨询与服务转化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09600" y="4543425"/>
            <a:ext cx="1714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4850" y="46005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同城圈子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2324100" y="4543425"/>
            <a:ext cx="2857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419350" y="46005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沙龙、活动、家长连接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5181600" y="4543425"/>
            <a:ext cx="3238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5276850" y="46005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找到同频家庭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420100" y="4543425"/>
            <a:ext cx="31623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515350" y="4600575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连接线上裂变与线下信任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09600" y="5153025"/>
            <a:ext cx="1714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04850" y="52101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身份等级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2324100" y="5153025"/>
            <a:ext cx="2857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419350" y="52101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成长型父母、分享官等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5181600" y="5153025"/>
            <a:ext cx="3238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276850" y="5210175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强化身份认同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8420100" y="5153025"/>
            <a:ext cx="31623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515350" y="5210175"/>
            <a:ext cx="2971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培养用户传播节点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" name="矩形 58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客户后台把一次购买，沉淀为可持续经营的家庭账户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95425"/>
            <a:ext cx="17145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1562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账户资产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324100" y="1495425"/>
            <a:ext cx="30480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400300" y="1562100"/>
            <a:ext cx="2895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呈现内容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372100" y="1495425"/>
            <a:ext cx="30480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448300" y="1562100"/>
            <a:ext cx="2895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解决的问题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420100" y="1495425"/>
            <a:ext cx="33528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96300" y="1562100"/>
            <a:ext cx="320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经营价值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09600" y="2105025"/>
            <a:ext cx="1714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" y="21621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会员身份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324100" y="2105025"/>
            <a:ext cx="3048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419350" y="2162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等级、积分、权益、有效期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372100" y="2105025"/>
            <a:ext cx="3048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467350" y="2162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用户不知道自己拥有什么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420100" y="2105025"/>
            <a:ext cx="33528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15350" y="2162175"/>
            <a:ext cx="3162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促进权益使用与续费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09600" y="2714625"/>
            <a:ext cx="1714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4850" y="27717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服务进度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324100" y="2714625"/>
            <a:ext cx="3048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419350" y="27717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计划阶段、任务、陪跑角色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372100" y="2714625"/>
            <a:ext cx="3048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467350" y="27717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购买后缺乏过程感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420100" y="2714625"/>
            <a:ext cx="33528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15350" y="2771775"/>
            <a:ext cx="3162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提高交付透明度与完成率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09600" y="3324225"/>
            <a:ext cx="1714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4850" y="33813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订单资产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324100" y="3324225"/>
            <a:ext cx="3048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419350" y="33813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课程、活动、优惠券、奖励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5372100" y="3324225"/>
            <a:ext cx="3048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467350" y="33813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权益分散、使用率低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420100" y="3324225"/>
            <a:ext cx="33528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515350" y="3381375"/>
            <a:ext cx="3162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促进复购与交叉销售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09600" y="3933825"/>
            <a:ext cx="1714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04850" y="39909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家庭档案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324100" y="3933825"/>
            <a:ext cx="3048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419350" y="39909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测评、报告、成长记录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372100" y="3933825"/>
            <a:ext cx="3048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467350" y="39909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每次服务都从零开始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8420100" y="3933825"/>
            <a:ext cx="33528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515350" y="3990975"/>
            <a:ext cx="3162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支持个性化推荐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09600" y="4543425"/>
            <a:ext cx="1714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4850" y="46005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咨询活动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2324100" y="4543425"/>
            <a:ext cx="3048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419350" y="46005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预约、报名、服务历史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5372100" y="4543425"/>
            <a:ext cx="3048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5467350" y="46005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入口分散、沟通成本高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8420100" y="4543425"/>
            <a:ext cx="33528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515350" y="4600575"/>
            <a:ext cx="3162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统一服务触点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609600" y="5153025"/>
            <a:ext cx="1714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04850" y="5210175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客服支持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2324100" y="5153025"/>
            <a:ext cx="3048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419350" y="5210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顾问、班主任、售后入口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5372100" y="5153025"/>
            <a:ext cx="3048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5467350" y="5210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出现问题找不到人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8420100" y="5153025"/>
            <a:ext cx="33528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8515350" y="5210175"/>
            <a:ext cx="3162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提升满意度与信任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3" name="矩形 62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第一个100万家庭：五级增长模型，而非单一投流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581150"/>
            <a:ext cx="1714500" cy="6858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647825"/>
            <a:ext cx="1562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增长来源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324100" y="1581150"/>
            <a:ext cx="1238250" cy="6858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400300" y="1647825"/>
            <a:ext cx="1085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建议占比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562350" y="1581150"/>
            <a:ext cx="3238500" cy="6858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638550" y="1647825"/>
            <a:ext cx="308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主要打法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00850" y="1581150"/>
            <a:ext cx="2476500" cy="6858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77050" y="1647825"/>
            <a:ext cx="2324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核心优势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277350" y="1581150"/>
            <a:ext cx="2305050" cy="6858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353550" y="1647825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必须关注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" y="2266950"/>
            <a:ext cx="1714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2324100"/>
            <a:ext cx="152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内容/IP矩阵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324100" y="2266950"/>
            <a:ext cx="12382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419350" y="2324100"/>
            <a:ext cx="1047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30%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562350" y="2266950"/>
            <a:ext cx="3238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657600" y="232410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短视频、直播、案例内容、测评入口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800850" y="2266950"/>
            <a:ext cx="2476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96100" y="23241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规模触达与持续获客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277350" y="2266950"/>
            <a:ext cx="23050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372600" y="2324100"/>
            <a:ext cx="2114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内容必须导向平台账户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09600" y="2952750"/>
            <a:ext cx="17145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4850" y="3009900"/>
            <a:ext cx="152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老用户裂变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324100" y="2952750"/>
            <a:ext cx="123825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419350" y="3009900"/>
            <a:ext cx="1047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30%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3562350" y="2952750"/>
            <a:ext cx="32385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657600" y="300990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成长报告、邀请有礼、3+1成长小组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800850" y="2952750"/>
            <a:ext cx="24765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896100" y="30099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信任高、成本低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277350" y="2952750"/>
            <a:ext cx="230505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372600" y="3009900"/>
            <a:ext cx="2114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防止现金利益替代价值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09600" y="3638550"/>
            <a:ext cx="1714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04850" y="3695700"/>
            <a:ext cx="152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城市社群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2324100" y="3638550"/>
            <a:ext cx="12382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419350" y="3695700"/>
            <a:ext cx="1047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20%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3562350" y="3638550"/>
            <a:ext cx="3238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657600" y="369570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沙龙、社区、城市发起人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800850" y="3638550"/>
            <a:ext cx="2476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896100" y="36957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线下信任与本地网络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9277350" y="3638550"/>
            <a:ext cx="23050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372600" y="3695700"/>
            <a:ext cx="2114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先验证单城模型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09600" y="4324350"/>
            <a:ext cx="17145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4850" y="4381500"/>
            <a:ext cx="152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机构合作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2324100" y="4324350"/>
            <a:ext cx="123825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419350" y="4381500"/>
            <a:ext cx="1047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15%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3562350" y="4324350"/>
            <a:ext cx="32385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3657600" y="438150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学校、企业福利、社区、公益组织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800850" y="4324350"/>
            <a:ext cx="247650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896100" y="43815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批量精准家庭入口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9277350" y="4324350"/>
            <a:ext cx="2305050" cy="6858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372600" y="4381500"/>
            <a:ext cx="2114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合作边界与服务承接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609600" y="5010150"/>
            <a:ext cx="1714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4850" y="5067300"/>
            <a:ext cx="152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付费投放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2324100" y="5010150"/>
            <a:ext cx="12382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2419350" y="5067300"/>
            <a:ext cx="1047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5%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3562350" y="5010150"/>
            <a:ext cx="3238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3657600" y="5067300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测试入口与优质内容放大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6800850" y="5010150"/>
            <a:ext cx="247650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6896100" y="506730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可控加速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9277350" y="5010150"/>
            <a:ext cx="2305050" cy="685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372600" y="5067300"/>
            <a:ext cx="2114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不再作为唯一增长引擎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" name="矩形 72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一个入口、三类核心产品、五类收入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495425"/>
            <a:ext cx="1381125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12287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商业层级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990725" y="1495425"/>
            <a:ext cx="26670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066925" y="1562100"/>
            <a:ext cx="2514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产品与服务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657725" y="1495425"/>
            <a:ext cx="285750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733925" y="156210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用户价值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515225" y="1495425"/>
            <a:ext cx="1952625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591425" y="1562100"/>
            <a:ext cx="18002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收入方式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467850" y="1495425"/>
            <a:ext cx="2114550" cy="6096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544050" y="15621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战略作用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" y="2105025"/>
            <a:ext cx="138112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2162175"/>
            <a:ext cx="1190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入口层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990725" y="2105025"/>
            <a:ext cx="2667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085975" y="216217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家庭/父母成长测评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657725" y="2105025"/>
            <a:ext cx="2857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752975" y="21621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看清问题与优先级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515225" y="2105025"/>
            <a:ext cx="195262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10475" y="21621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免费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467850" y="2105025"/>
            <a:ext cx="21145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563100" y="2162175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获客与画像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09600" y="2714625"/>
            <a:ext cx="138112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4850" y="2771775"/>
            <a:ext cx="1190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体验层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990725" y="2714625"/>
            <a:ext cx="2667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085975" y="277177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21天成长挑战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657725" y="2714625"/>
            <a:ext cx="2857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752975" y="27717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获得第一次小改变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515225" y="2714625"/>
            <a:ext cx="195262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610475" y="27717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低价体验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9467850" y="2714625"/>
            <a:ext cx="21145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563100" y="2771775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筛选意愿与建立信任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09600" y="3324225"/>
            <a:ext cx="138112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04850" y="3381375"/>
            <a:ext cx="1190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核心层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1990725" y="3324225"/>
            <a:ext cx="2667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085975" y="338137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90天家庭成长计划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657725" y="3324225"/>
            <a:ext cx="2857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752975" y="33813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完成系统性家庭改善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515225" y="3324225"/>
            <a:ext cx="195262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610475" y="33813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核心课程/服务收入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9467850" y="3324225"/>
            <a:ext cx="21145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563100" y="3381375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结果交付与案例生产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09600" y="3933825"/>
            <a:ext cx="138112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4850" y="3990975"/>
            <a:ext cx="1190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长期层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1990725" y="3933825"/>
            <a:ext cx="2667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085975" y="399097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年度家庭成长会员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4657725" y="3933825"/>
            <a:ext cx="2857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752975" y="39909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持续陪伴与权益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515225" y="3933825"/>
            <a:ext cx="195262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610475" y="39909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会员订阅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9467850" y="3933825"/>
            <a:ext cx="21145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563100" y="3990975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稳定收入与留存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609600" y="4543425"/>
            <a:ext cx="138112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704850" y="4600575"/>
            <a:ext cx="1190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服务层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1990725" y="4543425"/>
            <a:ext cx="26670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2085975" y="460057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咨询、沙龙、城市活动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4657725" y="4543425"/>
            <a:ext cx="285750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4752975" y="46005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解决个性问题、获得连接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7515225" y="4543425"/>
            <a:ext cx="1952625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610475" y="46005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咨询/活动收入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9467850" y="4543425"/>
            <a:ext cx="2114550" cy="609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563100" y="4600575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提升ARPU与体验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609600" y="5153025"/>
            <a:ext cx="138112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704850" y="5210175"/>
            <a:ext cx="1190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生态层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1990725" y="5153025"/>
            <a:ext cx="26670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2085975" y="521017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专家、城市伙伴、AI服务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4657725" y="5153025"/>
            <a:ext cx="285750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4752975" y="52101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更多选择与规模化陪伴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7515225" y="5153025"/>
            <a:ext cx="1952625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7610475" y="5210175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抽佣/合作/订阅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9467850" y="5153025"/>
            <a:ext cx="2114550" cy="6096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9563100" y="5210175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形成平台生态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三年路线：先资产化，再平台化，最后生态化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809750"/>
            <a:ext cx="1905000" cy="9525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876425"/>
            <a:ext cx="17526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阶段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2514600" y="1809750"/>
            <a:ext cx="2381250" cy="9525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590800" y="1876425"/>
            <a:ext cx="22288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核心目标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4895850" y="1809750"/>
            <a:ext cx="3333750" cy="9525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972050" y="1876425"/>
            <a:ext cx="31813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重点建设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229600" y="1809750"/>
            <a:ext cx="2381250" cy="9525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05800" y="1876425"/>
            <a:ext cx="22288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验证指标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0610850" y="1809750"/>
            <a:ext cx="1924050" cy="9525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87050" y="1876425"/>
            <a:ext cx="17716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暂不做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9600" y="2762250"/>
            <a:ext cx="190500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281940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第1年：用户资产化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2514600" y="2762250"/>
            <a:ext cx="238125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609850" y="28194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把已有客户迁移为家庭账户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895850" y="2762250"/>
            <a:ext cx="333375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991100" y="281940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测评、首页、会员、社区、我的后台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229600" y="2762250"/>
            <a:ext cx="238125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24850" y="28194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激活率、活跃率、续费率、分享率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0610850" y="2762250"/>
            <a:ext cx="192405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706100" y="2819400"/>
            <a:ext cx="1733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不追求功能大而全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09600" y="3714750"/>
            <a:ext cx="1905000" cy="9525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4850" y="377190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第2年：服务平台化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514600" y="3714750"/>
            <a:ext cx="2381250" cy="9525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609850" y="37719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形成可复制的服务和增长闭环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895850" y="3714750"/>
            <a:ext cx="3333750" cy="9525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4991100" y="377190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AI推荐、专家服务、城市社群、数据运营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229600" y="3714750"/>
            <a:ext cx="2381250" cy="9525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324850" y="37719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自然新增占比、LTV、城市模型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0610850" y="3714750"/>
            <a:ext cx="1924050" cy="9525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706100" y="3771900"/>
            <a:ext cx="1733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不盲目全国扩张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09600" y="4667250"/>
            <a:ext cx="190500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04850" y="4724400"/>
            <a:ext cx="171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第3年：生态化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2514600" y="4667250"/>
            <a:ext cx="238125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609850" y="47244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连接专家、城市与家庭服务资源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895850" y="4667250"/>
            <a:ext cx="333375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991100" y="4724400"/>
            <a:ext cx="3143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开放服务市场、认证体系、合作网络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8229600" y="4667250"/>
            <a:ext cx="238125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324850" y="4724400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平台交易、供给质量、网络效应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10610850" y="4667250"/>
            <a:ext cx="1924050" cy="9525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0706100" y="4724400"/>
            <a:ext cx="1733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不牺牲品牌和交付标准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76300" y="5267325"/>
            <a:ext cx="10439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7A21"/>
                </a:solidFill>
              </a:defRPr>
            </a:pPr>
            <a:r>
              <a:rPr sz="1650" b="1">
                <a:solidFill>
                  <a:srgbClr val="FF7A21"/>
                </a:solidFill>
              </a:rPr>
              <a:t>决策原则：原业务继续提供现金流，新平台用独立指标验证；成熟一个模块，再开放一个生态。</a:t>
            </a:r>
            <a:endParaRPr sz="1650" b="1">
              <a:solidFill>
                <a:srgbClr val="FF7A2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矩形 44"/>
          <p:cNvSpPr>
            <a:spLocks noGrp="1"/>
          </p:cNvSpPr>
          <p:nvPr/>
        </p:nvSpPr>
        <p:spPr>
          <a:xfrm>
            <a:off x="609600" y="342900"/>
            <a:ext cx="1097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9295A"/>
                </a:solidFill>
              </a:defRPr>
            </a:pPr>
            <a:r>
              <a:rPr sz="2700" b="1">
                <a:solidFill>
                  <a:srgbClr val="09295A"/>
                </a:solidFill>
              </a:rPr>
              <a:t>未来经营仪表盘：从销售指标升级为用户资产指标</a:t>
            </a:r>
            <a:endParaRPr sz="2700" b="1">
              <a:solidFill>
                <a:srgbClr val="09295A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1200150"/>
            <a:ext cx="10972800" cy="38100"/>
          </a:xfrm>
          <a:prstGeom prst="rect">
            <a:avLst/>
          </a:prstGeom>
          <a:solidFill>
            <a:srgbClr val="146EF5"/>
          </a:solidFill>
          <a:ln w="0">
            <a:noFill/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1047750" y="1543050"/>
            <a:ext cx="2857500" cy="6477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23950" y="1609725"/>
            <a:ext cx="2705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过去主要看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3905250" y="1543050"/>
            <a:ext cx="3714750" cy="6477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981450" y="1609725"/>
            <a:ext cx="3562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未来必须看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0" y="1543050"/>
            <a:ext cx="3524250" cy="647700"/>
          </a:xfrm>
          <a:prstGeom prst="roundRect">
            <a:avLst>
              <a:gd name="adj" fmla="val 0"/>
            </a:avLst>
          </a:prstGeom>
          <a:solidFill>
            <a:srgbClr val="09295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96200" y="1609725"/>
            <a:ext cx="3371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说明平台是否成立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047750" y="2190750"/>
            <a:ext cx="28575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2479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线索量、投放ROI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905250" y="2190750"/>
            <a:ext cx="37147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000500" y="224790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CAC＋自然新增占比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620000" y="2190750"/>
            <a:ext cx="35242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715250" y="22479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增长是否逐步摆脱纯付费流量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047750" y="2838450"/>
            <a:ext cx="2857500" cy="6477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28956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咨询量、成交率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905250" y="2838450"/>
            <a:ext cx="3714750" cy="6477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000500" y="289560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测评完成率＋挑战转化率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620000" y="2838450"/>
            <a:ext cx="3524250" cy="6477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715250" y="28956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入口是否真正创造即时价值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047750" y="3486150"/>
            <a:ext cx="28575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43000" y="35433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销售额、客单价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3905250" y="3486150"/>
            <a:ext cx="37147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000500" y="354330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注册家庭＋月活家庭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620000" y="3486150"/>
            <a:ext cx="35242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715250" y="35433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是否形成可持续用户资产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047750" y="4133850"/>
            <a:ext cx="2857500" cy="6477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143000" y="41910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完课率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3905250" y="4133850"/>
            <a:ext cx="3714750" cy="6477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000500" y="419100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21天完成率＋90天结果率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620000" y="4133850"/>
            <a:ext cx="3524250" cy="6477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715250" y="41910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交付是否推动真实改变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047750" y="4781550"/>
            <a:ext cx="285750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143000" y="48387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转介绍数量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3905250" y="4781550"/>
            <a:ext cx="37147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000500" y="483870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主动分享率＋邀请成功率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620000" y="4781550"/>
            <a:ext cx="3524250" cy="647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715250" y="48387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用户是否成为增长节点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1047750" y="5429250"/>
            <a:ext cx="2857500" cy="6477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143000" y="5486400"/>
            <a:ext cx="266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0213E"/>
                </a:solidFill>
              </a:defRPr>
            </a:pPr>
            <a:r>
              <a:rPr sz="1200" b="1">
                <a:solidFill>
                  <a:srgbClr val="10213E"/>
                </a:solidFill>
              </a:rPr>
              <a:t>复购金额</a:t>
            </a:r>
            <a:endParaRPr sz="1200" b="1">
              <a:solidFill>
                <a:srgbClr val="10213E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3905250" y="5429250"/>
            <a:ext cx="3714750" cy="6477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000500" y="548640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会员续费率＋家庭LTV</a:t>
            </a:r>
            <a:endParaRPr sz="1200" b="0">
              <a:solidFill>
                <a:srgbClr val="10213E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620000" y="5429250"/>
            <a:ext cx="3524250" cy="647700"/>
          </a:xfrm>
          <a:prstGeom prst="roundRect">
            <a:avLst>
              <a:gd name="adj" fmla="val 0"/>
            </a:avLst>
          </a:prstGeom>
          <a:solidFill>
            <a:srgbClr val="EAF2FF"/>
          </a:solidFill>
          <a:ln w="9525">
            <a:solidFill>
              <a:srgbClr val="CBDCF5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715250" y="5486400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0213E"/>
                </a:solidFill>
              </a:defRPr>
            </a:pPr>
            <a:r>
              <a:rPr sz="1200" b="0">
                <a:solidFill>
                  <a:srgbClr val="10213E"/>
                </a:solidFill>
              </a:rPr>
              <a:t>长期陪伴是否创造商业价值</a:t>
            </a:r>
            <a:endParaRPr sz="1200" b="0">
              <a:solidFill>
                <a:srgbClr val="10213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9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857250" y="1095375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榜样教育下一步，不是继续买流量卖课</a:t>
            </a:r>
            <a:endParaRPr sz="3150" b="1">
              <a:solidFill>
                <a:srgbClr val="FFFF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43000" y="2143125"/>
            <a:ext cx="9906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700" b="1">
                <a:solidFill>
                  <a:srgbClr val="D7E8FF"/>
                </a:solidFill>
              </a:defRPr>
            </a:pPr>
            <a:r>
              <a:rPr sz="2700" b="1">
                <a:solidFill>
                  <a:srgbClr val="D7E8FF"/>
                </a:solidFill>
              </a:rPr>
              <a:t>而是把成熟课程、成功案例和服务能力</a:t>
            </a:r>
            <a:endParaRPr sz="2700" b="1">
              <a:solidFill>
                <a:srgbClr val="D7E8FF"/>
              </a:solidFill>
            </a:endParaRPr>
          </a:p>
          <a:p>
            <a:pPr algn="ctr">
              <a:defRPr sz="2700" b="1">
                <a:solidFill>
                  <a:srgbClr val="D7E8FF"/>
                </a:solidFill>
              </a:defRPr>
            </a:pPr>
            <a:r>
              <a:rPr sz="2700" b="1">
                <a:solidFill>
                  <a:srgbClr val="D7E8FF"/>
                </a:solidFill>
              </a:rPr>
              <a:t>升级为可以连接百万家庭的父母成长平台</a:t>
            </a:r>
            <a:endParaRPr sz="2700" b="1">
              <a:solidFill>
                <a:srgbClr val="D7E8FF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1762125" y="3857625"/>
            <a:ext cx="8667750" cy="952500"/>
          </a:xfrm>
          <a:prstGeom prst="roundRect">
            <a:avLst>
              <a:gd name="adj" fmla="val 8000"/>
            </a:avLst>
          </a:prstGeom>
          <a:solidFill>
            <a:srgbClr val="0E397A"/>
          </a:solidFill>
          <a:ln w="9525">
            <a:solidFill>
              <a:srgbClr val="3A79CD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2095500" y="4095750"/>
            <a:ext cx="800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D77A"/>
                </a:solidFill>
              </a:defRPr>
            </a:pPr>
            <a:r>
              <a:rPr sz="2025" b="1">
                <a:solidFill>
                  <a:srgbClr val="FFD77A"/>
                </a:solidFill>
              </a:rPr>
              <a:t>孩子问题是入口 · 父母成长是价值 · 家庭改变是结果</a:t>
            </a:r>
            <a:endParaRPr sz="2025" b="1">
              <a:solidFill>
                <a:srgbClr val="FFD77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476500" y="55245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增长 × 分发 × 服务 × 陪伴 = 新商业模式</a:t>
            </a:r>
            <a:endParaRPr sz="16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2743</Words>
  <Application>WPS 演示</Application>
  <PresentationFormat>Converted Presentation</PresentationFormat>
  <Paragraphs>637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晏少</cp:lastModifiedBy>
  <cp:revision>2</cp:revision>
  <dcterms:created xsi:type="dcterms:W3CDTF">2026-07-27T07:35:26Z</dcterms:created>
  <dcterms:modified xsi:type="dcterms:W3CDTF">2026-07-27T07:35:26Z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1132C02C7CE5FEA13E0A676A4DF335D9_43</vt:lpwstr>
  </property>
  <property fmtid="{D5CDD505-2E9C-101B-9397-08002B2CF9AE}" pid="3" name="KSOProductBuildVer">
    <vt:lpwstr>2052-12.1.23540.23540</vt:lpwstr>
  </property>
</Properties>
</file>